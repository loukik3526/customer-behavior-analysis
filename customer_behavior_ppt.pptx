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Karla"/>
      <p:regular r:id="rId201314"/>
    </p:embeddedFont>
    <p:embeddedFont>
      <p:font typeface="Karla Bold"/>
      <p:regular r:id="rId201315"/>
    </p:embeddedFont>
    <p:embeddedFont>
      <p:font typeface="Karla ExtraBold"/>
      <p:regular r:id="rId201316"/>
    </p:embeddedFont>
    <p:embeddedFont>
      <p:font typeface="Nunito Black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2582069"/>
            <a:ext cx="593839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2B4BE0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SHOPPER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2914650"/>
            <a:ext cx="5328807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dirty="0">
                <a:solidFill>
                  <a:srgbClr val="2A1736"/>
                </a:solidFill>
                <a:latin typeface="Nunito Black" pitchFamily="34" charset="0"/>
                <a:ea typeface="Nunito Black" pitchFamily="34" charset="-122"/>
                <a:cs typeface="Nunito Black" pitchFamily="34" charset="0"/>
              </a:rPr>
              <a:t>What shoppers are telling us</a:t>
            </a:r>
            <a:endParaRPr lang="en-US" sz="5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2B4BE0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THE DATA 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87"/>
            <a:ext cx="108709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38" kern="100" dirty="0">
                <a:solidFill>
                  <a:srgbClr val="2A1736"/>
                </a:solidFill>
                <a:latin typeface="Nunito Black" pitchFamily="34" charset="0"/>
                <a:ea typeface="Nunito Black" pitchFamily="34" charset="-122"/>
                <a:cs typeface="Nunito Black" pitchFamily="34" charset="0"/>
              </a:rPr>
              <a:t>We analyzed 3,900 purchases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60383" y="1831975"/>
            <a:ext cx="5130672" cy="4365625"/>
          </a:xfrm>
          <a:prstGeom prst="rect">
            <a:avLst/>
          </a:prstGeom>
          <a:solidFill>
            <a:srgbClr val="EBD0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978" y="3302298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8978" y="3797961"/>
            <a:ext cx="467348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A1736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18 columns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88978" y="4193778"/>
            <a:ext cx="46734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Customer details, products, spending, shipping, discounts, reviews, and subscriptions.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5848" y="1831975"/>
            <a:ext cx="2565336" cy="4365625"/>
          </a:xfrm>
          <a:prstGeom prst="rect">
            <a:avLst/>
          </a:prstGeom>
          <a:solidFill>
            <a:srgbClr val="EBD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3435648"/>
            <a:ext cx="38099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2" y="3931311"/>
            <a:ext cx="2108147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A1736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$59.76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324442" y="4327128"/>
            <a:ext cx="233674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Average purchase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965976" y="1831975"/>
            <a:ext cx="2565336" cy="4365625"/>
          </a:xfrm>
          <a:prstGeom prst="rect">
            <a:avLst/>
          </a:prstGeom>
          <a:solidFill>
            <a:srgbClr val="EBD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570" y="3435648"/>
            <a:ext cx="380990" cy="38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94570" y="3931311"/>
            <a:ext cx="2108147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A1736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3.75 / 5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9194570" y="4327128"/>
            <a:ext cx="233674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Average review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2B4BE0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REVENUE BY CATEGORY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87"/>
            <a:ext cx="108709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38" kern="100" dirty="0">
                <a:solidFill>
                  <a:srgbClr val="2A1736"/>
                </a:solidFill>
                <a:latin typeface="Nunito Black" pitchFamily="34" charset="0"/>
                <a:ea typeface="Nunito Black" pitchFamily="34" charset="-122"/>
                <a:cs typeface="Nunito Black" pitchFamily="34" charset="0"/>
              </a:rPr>
              <a:t>Clothing brings in the most revenue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426494"/>
            <a:ext cx="6349841" cy="3176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12874" y="2779812"/>
            <a:ext cx="3818338" cy="246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800" b="1" dirty="0">
                <a:solidFill>
                  <a:srgbClr val="2A1736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Clothing:</a:t>
            </a:r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 about $100K in revenue and roughly 1,700 sales.</a:t>
            </a:r>
            <a:endParaRPr lang="en-US" sz="1800" dirty="0"/>
          </a:p>
          <a:p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800" b="1" dirty="0">
                <a:solidFill>
                  <a:srgbClr val="2A1736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Accessories:</a:t>
            </a:r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 about $75K and 1,200 sales.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Footwear and outerwear trail behind.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749" y="5461000"/>
            <a:ext cx="1473163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2B4BE0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CUSTOMER 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87"/>
            <a:ext cx="108709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38" kern="100" dirty="0">
                <a:solidFill>
                  <a:srgbClr val="2A1736"/>
                </a:solidFill>
                <a:latin typeface="Nunito Black" pitchFamily="34" charset="0"/>
                <a:ea typeface="Nunito Black" pitchFamily="34" charset="-122"/>
                <a:cs typeface="Nunito Black" pitchFamily="34" charset="0"/>
              </a:rPr>
              <a:t>Loyal shoppers are the biggest group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300288"/>
            <a:ext cx="6603835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60032" y="3426817"/>
            <a:ext cx="3471180" cy="11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The opportunity is to turn more returning shoppers into loyal ones.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2B4BE0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DISCOUNT PATTERNS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87"/>
            <a:ext cx="1087092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38" kern="100" dirty="0">
                <a:solidFill>
                  <a:srgbClr val="2A1736"/>
                </a:solidFill>
                <a:latin typeface="Nunito Black" pitchFamily="34" charset="0"/>
                <a:ea typeface="Nunito Black" pitchFamily="34" charset="-122"/>
                <a:cs typeface="Nunito Black" pitchFamily="34" charset="0"/>
              </a:rPr>
              <a:t>Discounts help sales, but some products depend on them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636044"/>
            <a:ext cx="6349841" cy="3240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12874" y="3024684"/>
            <a:ext cx="3818338" cy="246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About 839 shoppers used discounts and still spent above the average purchase amount.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Use discounts to grow demand without giving away too much margin.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2B4BE0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SUBSCRIPTION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87"/>
            <a:ext cx="108709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38" kern="100" dirty="0">
                <a:solidFill>
                  <a:srgbClr val="2A1736"/>
                </a:solidFill>
                <a:latin typeface="Nunito Black" pitchFamily="34" charset="0"/>
                <a:ea typeface="Nunito Black" pitchFamily="34" charset="-122"/>
                <a:cs typeface="Nunito Black" pitchFamily="34" charset="0"/>
              </a:rPr>
              <a:t>Subscriptions are still a small slice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205038"/>
            <a:ext cx="6095848" cy="3619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12874" y="2459831"/>
            <a:ext cx="3818338" cy="3109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800" b="1" dirty="0">
                <a:solidFill>
                  <a:srgbClr val="2A1736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Subscribers:</a:t>
            </a:r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 1,053 customers, or 27% of the base.</a:t>
            </a:r>
            <a:endParaRPr lang="en-US" sz="1800" dirty="0"/>
          </a:p>
          <a:p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800" b="1" dirty="0">
                <a:solidFill>
                  <a:srgbClr val="2A1736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Non-subscribers:</a:t>
            </a:r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 2,847 customers, or 73%.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Average spend is almost the same: $59.49 for subscribers vs. $59.87 for non-subscribers.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2B4BE0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REVENUE BY AGE GROUP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87"/>
            <a:ext cx="108709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38" kern="100" dirty="0">
                <a:solidFill>
                  <a:srgbClr val="2A1736"/>
                </a:solidFill>
                <a:latin typeface="Nunito Black" pitchFamily="34" charset="0"/>
                <a:ea typeface="Nunito Black" pitchFamily="34" charset="-122"/>
                <a:cs typeface="Nunito Black" pitchFamily="34" charset="0"/>
              </a:rPr>
              <a:t>Young adults lead revenue by age group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268538"/>
            <a:ext cx="6603835" cy="3492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60032" y="3586857"/>
            <a:ext cx="3471180" cy="855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Age is useful for targeting, but the gap is not huge.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782300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2B4BE0"/>
                </a:solidFill>
                <a:latin typeface="Karla Bold" pitchFamily="34" charset="0"/>
                <a:ea typeface="Karla Bold" pitchFamily="34" charset="-122"/>
                <a:cs typeface="Karla Bold" pitchFamily="34" charset="0"/>
              </a:rPr>
              <a:t>WHAT TO DO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87"/>
            <a:ext cx="721342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38" kern="100" dirty="0">
                <a:solidFill>
                  <a:srgbClr val="2A1736"/>
                </a:solidFill>
                <a:latin typeface="Nunito Black" pitchFamily="34" charset="0"/>
                <a:ea typeface="Nunito Black" pitchFamily="34" charset="-122"/>
                <a:cs typeface="Nunito Black" pitchFamily="34" charset="0"/>
              </a:rPr>
              <a:t>Five actions stand out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60383" y="1662708"/>
            <a:ext cx="431789" cy="43180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5" name="Text 3"/>
          <p:cNvSpPr/>
          <p:nvPr/>
        </p:nvSpPr>
        <p:spPr>
          <a:xfrm>
            <a:off x="829944" y="1757958"/>
            <a:ext cx="702253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2A1736"/>
                </a:solidFill>
                <a:latin typeface="Karla ExtraBold" pitchFamily="34" charset="0"/>
                <a:ea typeface="Karla ExtraBold" pitchFamily="34" charset="-122"/>
                <a:cs typeface="Karla ExtraBold" pitchFamily="34" charset="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69968" y="1757958"/>
            <a:ext cx="660383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Give subscribers benefits people can feel.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0383" y="2670373"/>
            <a:ext cx="431789" cy="43180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799981" y="2765623"/>
            <a:ext cx="762179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2A1736"/>
                </a:solidFill>
                <a:latin typeface="Karla ExtraBold" pitchFamily="34" charset="0"/>
                <a:ea typeface="Karla ExtraBold" pitchFamily="34" charset="-122"/>
                <a:cs typeface="Karla ExtraBold" pitchFamily="34" charset="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69968" y="2765623"/>
            <a:ext cx="660383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Reward repeat buyers and move them toward loyalty.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0383" y="3678138"/>
            <a:ext cx="431789" cy="43180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11" name="Text 9"/>
          <p:cNvSpPr/>
          <p:nvPr/>
        </p:nvSpPr>
        <p:spPr>
          <a:xfrm>
            <a:off x="797203" y="3773388"/>
            <a:ext cx="76763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2A1736"/>
                </a:solidFill>
                <a:latin typeface="Karla ExtraBold" pitchFamily="34" charset="0"/>
                <a:ea typeface="Karla ExtraBold" pitchFamily="34" charset="-122"/>
                <a:cs typeface="Karla ExtraBold" pitchFamily="34" charset="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69968" y="3773388"/>
            <a:ext cx="660383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Review discount-heavy products and protect margin.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0383" y="4685903"/>
            <a:ext cx="431789" cy="43180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14" name="Text 12"/>
          <p:cNvSpPr/>
          <p:nvPr/>
        </p:nvSpPr>
        <p:spPr>
          <a:xfrm>
            <a:off x="799782" y="4781153"/>
            <a:ext cx="762477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2A1736"/>
                </a:solidFill>
                <a:latin typeface="Karla ExtraBold" pitchFamily="34" charset="0"/>
                <a:ea typeface="Karla ExtraBold" pitchFamily="34" charset="-122"/>
                <a:cs typeface="Karla ExtraBold" pitchFamily="34" charset="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69968" y="4781153"/>
            <a:ext cx="660383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Feature top-rated products such as gloves, sandals, boots, hats, and skirts.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0383" y="5693668"/>
            <a:ext cx="431789" cy="43180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17" name="Text 15"/>
          <p:cNvSpPr/>
          <p:nvPr/>
        </p:nvSpPr>
        <p:spPr>
          <a:xfrm>
            <a:off x="803751" y="5788918"/>
            <a:ext cx="75454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2A1736"/>
                </a:solidFill>
                <a:latin typeface="Karla ExtraBold" pitchFamily="34" charset="0"/>
                <a:ea typeface="Karla ExtraBold" pitchFamily="34" charset="-122"/>
                <a:cs typeface="Karla ExtraBold" pitchFamily="34" charset="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69968" y="5788918"/>
            <a:ext cx="660383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1736"/>
                </a:solidFill>
                <a:latin typeface="Karla" pitchFamily="34" charset="0"/>
                <a:ea typeface="Karla" pitchFamily="34" charset="-122"/>
                <a:cs typeface="Karla" pitchFamily="34" charset="0"/>
              </a:rPr>
              <a:t>Target young adults and shoppers who choose faster shipping.</a:t>
            </a:r>
            <a:endParaRPr lang="en-US" sz="15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4570" y="660400"/>
            <a:ext cx="2336742" cy="55372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60383" y="2385616"/>
            <a:ext cx="7213420" cy="19050"/>
          </a:xfrm>
          <a:prstGeom prst="rect">
            <a:avLst/>
          </a:prstGeom>
          <a:solidFill>
            <a:srgbClr val="2A1736"/>
          </a:solidFill>
          <a:ln/>
        </p:spPr>
      </p:sp>
      <p:sp>
        <p:nvSpPr>
          <p:cNvPr id="21" name="Shape 18"/>
          <p:cNvSpPr/>
          <p:nvPr/>
        </p:nvSpPr>
        <p:spPr>
          <a:xfrm>
            <a:off x="660383" y="3393380"/>
            <a:ext cx="7213420" cy="19050"/>
          </a:xfrm>
          <a:prstGeom prst="rect">
            <a:avLst/>
          </a:prstGeom>
          <a:solidFill>
            <a:srgbClr val="2A1736"/>
          </a:solidFill>
          <a:ln/>
        </p:spPr>
      </p:sp>
      <p:sp>
        <p:nvSpPr>
          <p:cNvPr id="22" name="Shape 19"/>
          <p:cNvSpPr/>
          <p:nvPr/>
        </p:nvSpPr>
        <p:spPr>
          <a:xfrm>
            <a:off x="660383" y="4401145"/>
            <a:ext cx="7213420" cy="19050"/>
          </a:xfrm>
          <a:prstGeom prst="rect">
            <a:avLst/>
          </a:prstGeom>
          <a:solidFill>
            <a:srgbClr val="2A1736"/>
          </a:solidFill>
          <a:ln/>
        </p:spPr>
      </p:sp>
      <p:sp>
        <p:nvSpPr>
          <p:cNvPr id="23" name="Shape 20"/>
          <p:cNvSpPr/>
          <p:nvPr/>
        </p:nvSpPr>
        <p:spPr>
          <a:xfrm>
            <a:off x="660383" y="5408910"/>
            <a:ext cx="7213420" cy="19050"/>
          </a:xfrm>
          <a:prstGeom prst="rect">
            <a:avLst/>
          </a:prstGeom>
          <a:solidFill>
            <a:srgbClr val="2A173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2026-10-29T08:35:16Z</dcterms:created>
  <dcterms:modified xsi:type="dcterms:W3CDTF">2026-10-29T08:35:16Z</dcterms:modified>
</cp:coreProperties>
</file>